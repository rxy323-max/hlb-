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AIOCR 收入核验模块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999232"/>
            <a:ext cx="7315200" cy="36576"/>
          </a:xfrm>
          <a:prstGeom prst="rect">
            <a:avLst/>
          </a:prstGeom>
          <a:solidFill>
            <a:srgbClr val="4A5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AABB"/>
                </a:solidFill>
                <a:latin typeface="Calibri"/>
              </a:rPr>
              <a:t>收入核验工作台  ·  设计说明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80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586"/>
                </a:solidFill>
                <a:latin typeface="Calibri"/>
              </a:rPr>
              <a:t>HLB LOAD$  ·  session-v9  ·  Sales × 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设计原则与角色分工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  <a:latin typeface="Calibri"/>
              </a:rPr>
              <a:t>系统核心逻辑 · 角色边界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463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2"/>
                </a:solidFill>
                <a:latin typeface="Calibri"/>
              </a:rPr>
              <a:t>1/7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24128"/>
            <a:ext cx="534924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5488" y="1316736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143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角色职责明确隔离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499616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Sales 保证数据准确性，CED 保证规则正确性；两者不交叉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9424"/>
            <a:ext cx="534924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" y="2542032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6829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告警有主人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724912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每类告警有且只有一个负责角色，避免互相推诳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534924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3767328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593591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级联抑制噪音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95020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上游步骤未完成时，下游结果保持“待定”，不提前误报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00016"/>
            <a:ext cx="5349240" cy="1115568"/>
          </a:xfrm>
          <a:prstGeom prst="rect">
            <a:avLst/>
          </a:prstGeom>
          <a:solidFill>
            <a:srgbClr val="FFFFFF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488" y="4992624"/>
            <a:ext cx="438912" cy="438912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81888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规则与数据分离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175504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细项金额由 Sales 管，细项→字段的映射规则由 CED 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24128"/>
            <a:ext cx="5376672" cy="2487168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024128"/>
            <a:ext cx="5376672" cy="2487168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08813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4A8E"/>
                </a:solidFill>
                <a:latin typeface="Calibri"/>
              </a:rPr>
              <a:t>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389888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4A8E"/>
                </a:solidFill>
                <a:latin typeface="Calibri"/>
              </a:rPr>
              <a:t>Sales 的职责范围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核实每行金额与原件一致（Eyeball Check）</a:t>
            </a:r>
          </a:p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修正 OCR 识别错误的金额</a:t>
            </a:r>
          </a:p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补录 OCR 漏识别的细项（名称 + 金额）</a:t>
            </a:r>
          </a:p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对无法补录的缺失字段：忽略并留说明理由</a:t>
            </a:r>
          </a:p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确认无误后，流转给 CED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703320"/>
            <a:ext cx="5376672" cy="2487168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703320"/>
            <a:ext cx="5376672" cy="2487168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76732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D1A"/>
                </a:solidFill>
                <a:latin typeface="Calibri"/>
              </a:rPr>
              <a:t>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0690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4D1A"/>
                </a:solidFill>
                <a:latin typeface="Calibri"/>
              </a:rPr>
              <a:t>CED 的职责范围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配置细项→收入字段的映射规则</a:t>
            </a:r>
          </a:p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为 Sales 补录的新类型细项指定映射</a:t>
            </a:r>
          </a:p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对加总不符进行三因分析：规则调整或跳过</a:t>
            </a:r>
          </a:p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完全信任 Sales 的数据，不重新核实金额</a:t>
            </a:r>
          </a:p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字段计算规则是系统固定配置，不在此调整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三步流程架构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  <a:latin typeface="Calibri"/>
              </a:rPr>
              <a:t>数据层 → 规则层 → 结果层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463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2"/>
                </a:solidFill>
                <a:latin typeface="Calibri"/>
              </a:rPr>
              <a:t>2/7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30168" cy="1024128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4A8E"/>
                </a:solidFill>
                <a:latin typeface="Calibr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细项核实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Sales 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2504" y="12344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C0CC"/>
                </a:solidFill>
                <a:latin typeface="Calibri"/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3630168" cy="4325112"/>
          </a:xfrm>
          <a:prstGeom prst="rect">
            <a:avLst/>
          </a:prstGeom>
          <a:solidFill>
            <a:srgbClr val="FFFFFF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67712"/>
            <a:ext cx="3374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  OCR 提取的所有细项，按月份 Tab 展示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Sales 逐行对照原件核实金额，可直接修改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完整性检查：列出必要字段无来源细项的缺口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Sales 可补录缺失细项或忽略并留说明理由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Eyeball Check 和完整性告警均清零后步骤通过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960120"/>
            <a:ext cx="3630168" cy="1024128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005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D1A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298448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字段映射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6420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CED 负责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12344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C0CC"/>
                </a:solidFill>
                <a:latin typeface="Calibri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121408"/>
            <a:ext cx="3630168" cy="4325112"/>
          </a:xfrm>
          <a:prstGeom prst="rect">
            <a:avLst/>
          </a:prstGeom>
          <a:solidFill>
            <a:srgbClr val="FFFFFF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267712"/>
            <a:ext cx="3374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  配置每种细项类型 → 收入字段的映射规则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默认规则已预设，仅处理需调整或新补录类型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规则与月份无关：一种类型配置一次，全月通用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不涉及金额，只管这个细项归属哪个收入桶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确认更新后规则立即生效，Step 3 自动重算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960120"/>
            <a:ext cx="3630168" cy="1024128"/>
          </a:xfrm>
          <a:prstGeom prst="rect">
            <a:avLst/>
          </a:prstGeom>
          <a:solidFill>
            <a:srgbClr val="F0F4FB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005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6E"/>
                </a:solidFill>
                <a:latin typeface="Calibr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298448"/>
            <a:ext cx="3401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加总校验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64208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结果展示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121408"/>
            <a:ext cx="3630168" cy="4325112"/>
          </a:xfrm>
          <a:prstGeom prst="rect">
            <a:avLst/>
          </a:prstGeom>
          <a:solidFill>
            <a:srgbClr val="FFFFFF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267712"/>
            <a:ext cx="337413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  按 Step 2 规则累加各细项，逐月展示计算过程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与工资单印刷的 Gross / Net / Deduction 核对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Step 1 或 Step 2 未完成 → 灰色“待定”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上游清零后自动计算：一致则绿，不符则红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374151"/>
                </a:solidFill>
                <a:latin typeface="Calibri"/>
              </a:rPr>
              <a:t>  不符时触发三因分诊（见后续章节）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角色视角差异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  <a:latin typeface="Calibri"/>
              </a:rPr>
              <a:t>同一工作台 · 两种阅读顺序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463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2"/>
                </a:solidFill>
                <a:latin typeface="Calibri"/>
              </a:rPr>
              <a:t>3/7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切换角色视图后，卡片顺序和默认展开状态自动调整。Step 编号保持不变，便于双方沟通对齐。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2286000" cy="420624"/>
          </a:xfrm>
          <a:prstGeom prst="rect">
            <a:avLst/>
          </a:prstGeom>
          <a:solidFill>
            <a:srgbClr val="334155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5389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389888"/>
            <a:ext cx="4389120" cy="420624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145389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4A8E"/>
                </a:solidFill>
                <a:latin typeface="Calibri"/>
              </a:rPr>
              <a:t>Sales 视图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389888"/>
            <a:ext cx="4462272" cy="420624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1453896"/>
            <a:ext cx="4279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D1A"/>
                </a:solidFill>
                <a:latin typeface="Calibri"/>
              </a:rPr>
              <a:t>CED 视图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10512"/>
            <a:ext cx="228600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810512"/>
            <a:ext cx="438912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1810512"/>
            <a:ext cx="4462272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901952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卡片顺序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1901952"/>
            <a:ext cx="4206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Step 1 -&gt; Step 2 -&gt; Step 3
(正向：先有数据再看结果)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1901952"/>
            <a:ext cx="42793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Step 3 -&gt; Step 2 -&gt; Step 1
(倒序：结果驱动，发现问题再下钔)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79191"/>
            <a:ext cx="2286000" cy="868680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80" y="2679191"/>
            <a:ext cx="4389120" cy="868680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0" y="2679191"/>
            <a:ext cx="4462272" cy="868680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770632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默认展开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2770632"/>
            <a:ext cx="4206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Step 1 展开
(直接进入核实工作)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770632"/>
            <a:ext cx="42793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Step 3 + Step 2 同时展开
(先看结论和规则)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47872"/>
            <a:ext cx="228600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97480" y="3547872"/>
            <a:ext cx="438912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0" y="3547872"/>
            <a:ext cx="4462272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3639312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工作模式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7208" y="3639312"/>
            <a:ext cx="4206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顺序处理：核实细项 -&gt; 如有缺失则补录
-&gt; 全部通过后流转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639312"/>
            <a:ext cx="42793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结果审查：看字段值是否合理
-&gt; 不合理则点开规则面板调整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16552"/>
            <a:ext cx="2286000" cy="868680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97480" y="4416552"/>
            <a:ext cx="4389120" cy="868680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0" y="4416552"/>
            <a:ext cx="4462272" cy="868680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507992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关注重点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07208" y="4507992"/>
            <a:ext cx="4206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原文金额是否被正确识别
有无漏识别的细项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42048" y="4507992"/>
            <a:ext cx="42793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各字段合计值是否符合预期
规则归类是否正确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285232"/>
            <a:ext cx="228600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97480" y="5285232"/>
            <a:ext cx="4389120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0" y="5285232"/>
            <a:ext cx="4462272" cy="868680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5376672"/>
            <a:ext cx="210312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基本假设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7208" y="5376672"/>
            <a:ext cx="420624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规则已预设，不需要自己配
遇到复杂规则转给 CED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42048" y="5376672"/>
            <a:ext cx="4279392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Sales 的数据完全可信
不需要重新核实金额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告警体系分类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  <a:latin typeface="Calibri"/>
              </a:rPr>
              <a:t>每类告警有且只有一个负责角色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463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2"/>
                </a:solidFill>
                <a:latin typeface="Calibri"/>
              </a:rPr>
              <a:t>4/7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987552"/>
            <a:ext cx="3090672" cy="384048"/>
          </a:xfrm>
          <a:prstGeom prst="rect">
            <a:avLst/>
          </a:prstGeom>
          <a:solidFill>
            <a:srgbClr val="334155"/>
          </a:solidFill>
          <a:ln w="381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51560"/>
            <a:ext cx="2953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告警类型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987552"/>
            <a:ext cx="2212848" cy="384048"/>
          </a:xfrm>
          <a:prstGeom prst="rect">
            <a:avLst/>
          </a:prstGeom>
          <a:solidFill>
            <a:srgbClr val="334155"/>
          </a:solidFill>
          <a:ln w="381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051560"/>
            <a:ext cx="2075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触发条件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987552"/>
            <a:ext cx="1143000" cy="384048"/>
          </a:xfrm>
          <a:prstGeom prst="rect">
            <a:avLst/>
          </a:prstGeom>
          <a:solidFill>
            <a:srgbClr val="334155"/>
          </a:solidFill>
          <a:ln w="381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59" y="10515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归属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987552"/>
            <a:ext cx="1078992" cy="384048"/>
          </a:xfrm>
          <a:prstGeom prst="rect">
            <a:avLst/>
          </a:prstGeom>
          <a:solidFill>
            <a:srgbClr val="334155"/>
          </a:solidFill>
          <a:ln w="381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79" y="1051560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步骤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987552"/>
            <a:ext cx="3968496" cy="384048"/>
          </a:xfrm>
          <a:prstGeom prst="rect">
            <a:avLst/>
          </a:prstGeom>
          <a:solidFill>
            <a:srgbClr val="334155"/>
          </a:solidFill>
          <a:ln w="381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051560"/>
            <a:ext cx="38313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处理动作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1371600"/>
            <a:ext cx="3090672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93008" y="1371600"/>
            <a:ext cx="2212848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371600"/>
            <a:ext cx="1143000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1371600"/>
            <a:ext cx="1078992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371600"/>
            <a:ext cx="3968496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1453896"/>
            <a:ext cx="29535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Hard Fail / 识别质量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1453896"/>
            <a:ext cx="207568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OCR 字段与 CDM 不一致；关键字段失败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59" y="1508760"/>
            <a:ext cx="960120" cy="347472"/>
          </a:xfrm>
          <a:prstGeom prst="rect">
            <a:avLst/>
          </a:prstGeom>
          <a:solidFill>
            <a:srgbClr val="FDF1F0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59" y="152704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A2520"/>
                </a:solidFill>
                <a:latin typeface="Calibri"/>
              </a:rPr>
              <a:t>阻断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79" y="1453896"/>
            <a:ext cx="9418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8" y="1453896"/>
            <a:ext cx="3831335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必须修正或替换文件，不可忽略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2020824"/>
            <a:ext cx="3090672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93008" y="2020824"/>
            <a:ext cx="2212848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2020824"/>
            <a:ext cx="1143000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2020824"/>
            <a:ext cx="1078992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2020824"/>
            <a:ext cx="3968496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2103120"/>
            <a:ext cx="29535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Eyeball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103120"/>
            <a:ext cx="207568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AI 提取了值，但准确性无法自动验证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59" y="2157984"/>
            <a:ext cx="960120" cy="347472"/>
          </a:xfrm>
          <a:prstGeom prst="rect">
            <a:avLst/>
          </a:prstGeom>
          <a:solidFill>
            <a:srgbClr val="E8F0FE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59" y="217627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4A8E"/>
                </a:solidFill>
                <a:latin typeface="Calibri"/>
              </a:rPr>
              <a:t>Sales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2103120"/>
            <a:ext cx="9418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2103120"/>
            <a:ext cx="3831335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对照原件逐行核实 -&gt; 点击“全部已核实”确认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2670048"/>
            <a:ext cx="3090672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3008" y="2670048"/>
            <a:ext cx="2212848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60720" y="2670048"/>
            <a:ext cx="1143000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49440" y="2670048"/>
            <a:ext cx="1078992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2670048"/>
            <a:ext cx="3968496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2752344"/>
            <a:ext cx="29535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完整性缺失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4448" y="2752344"/>
            <a:ext cx="207568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必要字段在 OCR 输出中无对应细项来源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59" y="2807208"/>
            <a:ext cx="960120" cy="347472"/>
          </a:xfrm>
          <a:prstGeom prst="rect">
            <a:avLst/>
          </a:prstGeom>
          <a:solidFill>
            <a:srgbClr val="E8F0FE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59" y="282549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4A8E"/>
                </a:solidFill>
                <a:latin typeface="Calibri"/>
              </a:rPr>
              <a:t>Sales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79" y="2752344"/>
            <a:ext cx="9418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6448" y="2752344"/>
            <a:ext cx="3831335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补录细项(名称+金额)或忽略并留说明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" y="3319272"/>
            <a:ext cx="3090672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93008" y="3319272"/>
            <a:ext cx="2212848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60720" y="3319272"/>
            <a:ext cx="1143000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49440" y="3319272"/>
            <a:ext cx="1078992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65008" y="3319272"/>
            <a:ext cx="3968496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3401568"/>
            <a:ext cx="29535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新类型规则缺口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84448" y="3401568"/>
            <a:ext cx="207568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Sales 补录了系统没有默认映射的新细项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52159" y="3456432"/>
            <a:ext cx="960120" cy="347472"/>
          </a:xfrm>
          <a:prstGeom prst="rect">
            <a:avLst/>
          </a:prstGeom>
          <a:solidFill>
            <a:srgbClr val="E6F0E6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59" y="347472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4D1A"/>
                </a:solidFill>
                <a:latin typeface="Calibri"/>
              </a:rPr>
              <a:t>CED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79" y="3401568"/>
            <a:ext cx="9418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6448" y="3401568"/>
            <a:ext cx="3831335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在规则面板为该类型指定映射字段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" y="3968496"/>
            <a:ext cx="3090672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93008" y="3968496"/>
            <a:ext cx="2212848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60720" y="3968496"/>
            <a:ext cx="1143000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49440" y="3968496"/>
            <a:ext cx="1078992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65008" y="3968496"/>
            <a:ext cx="3968496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4050791"/>
            <a:ext cx="29535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规则变更待应用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4448" y="4050791"/>
            <a:ext cx="207568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CED 修改了规则但尚未点“确认更新”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159" y="4105656"/>
            <a:ext cx="960120" cy="347472"/>
          </a:xfrm>
          <a:prstGeom prst="rect">
            <a:avLst/>
          </a:prstGeom>
          <a:solidFill>
            <a:srgbClr val="E6F0E6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159" y="4123944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4D1A"/>
                </a:solidFill>
                <a:latin typeface="Calibri"/>
              </a:rPr>
              <a:t>CED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40879" y="4050791"/>
            <a:ext cx="9418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56448" y="4050791"/>
            <a:ext cx="3831335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Confirm &amp; Refresh 应用规则并触发重算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7472" y="4617720"/>
            <a:ext cx="3090672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493008" y="4617720"/>
            <a:ext cx="2212848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60720" y="4617720"/>
            <a:ext cx="1143000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49440" y="4617720"/>
            <a:ext cx="1078992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65008" y="4617720"/>
            <a:ext cx="3968496" cy="64922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8912" y="4700016"/>
            <a:ext cx="29535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加总不符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84448" y="4700016"/>
            <a:ext cx="207568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计算值与工资单印刷总计值不一致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52159" y="4754880"/>
            <a:ext cx="960120" cy="347472"/>
          </a:xfrm>
          <a:prstGeom prst="rect">
            <a:avLst/>
          </a:prstGeom>
          <a:solidFill>
            <a:srgbClr val="F0F4FB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852159" y="477316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3E6E"/>
                </a:solidFill>
                <a:latin typeface="Calibri"/>
              </a:rPr>
              <a:t>共担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0879" y="4700016"/>
            <a:ext cx="9418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56448" y="4700016"/>
            <a:ext cx="3831335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三因分诊：①金额错 ②规则错 ③规则如此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7472" y="5266944"/>
            <a:ext cx="3090672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493008" y="5266944"/>
            <a:ext cx="2212848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760720" y="5266944"/>
            <a:ext cx="1143000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49440" y="5266944"/>
            <a:ext cx="1078992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065008" y="5266944"/>
            <a:ext cx="3968496" cy="64922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8912" y="5349240"/>
            <a:ext cx="295351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图像质量告警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84448" y="5349240"/>
            <a:ext cx="2075688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某页清晰度边缘值，AI 提取可能不准确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52159" y="5404104"/>
            <a:ext cx="960120" cy="347472"/>
          </a:xfrm>
          <a:prstGeom prst="rect">
            <a:avLst/>
          </a:prstGeom>
          <a:solidFill>
            <a:srgbClr val="E8F0FE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52159" y="542239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C4A8E"/>
                </a:solidFill>
                <a:latin typeface="Calibri"/>
              </a:rPr>
              <a:t>Sales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40879" y="5349240"/>
            <a:ext cx="941832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56448" y="5349240"/>
            <a:ext cx="3831335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自动注入为 Eyeball Check，随其一并处理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Step 1 — 两类告警的区别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  <a:latin typeface="Calibri"/>
              </a:rPr>
              <a:t>外观相近，处理逻辑不同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463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2"/>
                </a:solidFill>
                <a:latin typeface="Calibri"/>
              </a:rPr>
              <a:t>5/7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两类告警都出现在 Step 1，由 Sales 处理，但触发原因和处理方式完全不同，需分别对待：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5532120" cy="5029200"/>
          </a:xfrm>
          <a:prstGeom prst="rect">
            <a:avLst/>
          </a:prstGeom>
          <a:solidFill>
            <a:srgbClr val="F0F4FB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5532120" cy="5029200"/>
          </a:xfrm>
          <a:prstGeom prst="rect">
            <a:avLst/>
          </a:prstGeom>
          <a:solidFill>
            <a:srgbClr val="F0F4FB"/>
          </a:solidFill>
          <a:ln w="6350">
            <a:solidFill>
              <a:srgbClr val="C3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5532120" cy="457200"/>
          </a:xfrm>
          <a:prstGeom prst="rect">
            <a:avLst/>
          </a:prstGeom>
          <a:solidFill>
            <a:srgbClr val="2C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356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Eyeball Check  (人工核对)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93392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6E"/>
                </a:solidFill>
                <a:latin typeface="Calibri"/>
              </a:rPr>
              <a:t>性质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993392"/>
            <a:ext cx="3977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AI 提取了值，但无法自证准确（图像边缘、手写区域等）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670048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6E"/>
                </a:solidFill>
                <a:latin typeface="Calibri"/>
              </a:rPr>
              <a:t>例子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670048"/>
            <a:ext cx="3977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边缘清晰度页 · 某月某行金额模糊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346704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6E"/>
                </a:solidFill>
                <a:latin typeface="Calibri"/>
              </a:rPr>
              <a:t>Sales 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346704"/>
            <a:ext cx="3977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对照右侧文件预览逐行核对 → 点击“全部已核实”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023360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6E"/>
                </a:solidFill>
                <a:latin typeface="Calibri"/>
              </a:rPr>
              <a:t>交互提示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023360"/>
            <a:ext cx="3977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鼠标悬停告警区时，下方所有细项行同步高亮，帮助快速定位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700016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3E6E"/>
                </a:solidFill>
                <a:latin typeface="Calibri"/>
              </a:rPr>
              <a:t>独立处理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00016"/>
            <a:ext cx="39776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“全部已核实”只清除 Eyeball 类告警，不影响 Hard Fail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1389888"/>
            <a:ext cx="5376672" cy="5029200"/>
          </a:xfrm>
          <a:prstGeom prst="rect">
            <a:avLst/>
          </a:prstGeom>
          <a:solidFill>
            <a:srgbClr val="FDF6ED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1389888"/>
            <a:ext cx="5376672" cy="5029200"/>
          </a:xfrm>
          <a:prstGeom prst="rect">
            <a:avLst/>
          </a:prstGeom>
          <a:solidFill>
            <a:srgbClr val="FDF6ED"/>
          </a:solidFill>
          <a:ln w="6350">
            <a:solidFill>
              <a:srgbClr val="E8C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1389888"/>
            <a:ext cx="5376672" cy="457200"/>
          </a:xfrm>
          <a:prstGeom prst="rect">
            <a:avLst/>
          </a:prstGeom>
          <a:solidFill>
            <a:srgbClr val="7A4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4356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完整性缺失  (数据缺口)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1993392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4F1A"/>
                </a:solidFill>
                <a:latin typeface="Calibri"/>
              </a:rPr>
              <a:t>性质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1993392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OCR 根本没有识别到某个必要细项（行被遮挡或漏扫）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2670048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4F1A"/>
                </a:solidFill>
                <a:latin typeface="Calibri"/>
              </a:rPr>
              <a:t>例子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2670048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某月 EPF 行缺失 · 医疗补贴未出现在 OCR 输出中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3346704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4F1A"/>
                </a:solidFill>
                <a:latin typeface="Calibri"/>
              </a:rPr>
              <a:t>Sales 操作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3346704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补录细项名称+金额，或声明不存在并留说明理由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4023360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4F1A"/>
                </a:solidFill>
                <a:latin typeface="Calibri"/>
              </a:rPr>
              <a:t>跨层路由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023360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补录的新类型细项 → 进入 Step 2 → 等 CED 配置映射规则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4700016"/>
            <a:ext cx="1207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4F1A"/>
                </a:solidFill>
                <a:latin typeface="Calibri"/>
              </a:rPr>
              <a:t>独立处理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4700016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通过单独忽略功能处理，不影响其他告警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告警联动 — 级联门控逻辑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  <a:latin typeface="Calibri"/>
              </a:rPr>
              <a:t>根因与症状的抑制链路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463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2"/>
                </a:solidFill>
                <a:latin typeface="Calibri"/>
              </a:rPr>
              <a:t>6/7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Step 3 加总不符往往是上游未完成的「症状」而非独立根因。过早展示会分散注意力，甚至误导 CED 调整规则，而实际上 Sales 只是还没核实完。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487168" cy="384048"/>
          </a:xfrm>
          <a:prstGeom prst="rect">
            <a:avLst/>
          </a:prstGeom>
          <a:solidFill>
            <a:srgbClr val="334155"/>
          </a:solidFill>
          <a:ln w="381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第一步状态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8648" y="1463040"/>
            <a:ext cx="2487168" cy="384048"/>
          </a:xfrm>
          <a:prstGeom prst="rect">
            <a:avLst/>
          </a:prstGeom>
          <a:solidFill>
            <a:srgbClr val="334155"/>
          </a:solidFill>
          <a:ln w="381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527048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第二步状态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31536" y="1463040"/>
            <a:ext cx="2487168" cy="384048"/>
          </a:xfrm>
          <a:prstGeom prst="rect">
            <a:avLst/>
          </a:prstGeom>
          <a:solidFill>
            <a:srgbClr val="334155"/>
          </a:solidFill>
          <a:ln w="381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2976" y="1527048"/>
            <a:ext cx="23500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第三步展示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4544568" cy="384048"/>
          </a:xfrm>
          <a:prstGeom prst="rect">
            <a:avLst/>
          </a:prstGeom>
          <a:solidFill>
            <a:srgbClr val="334155"/>
          </a:solidFill>
          <a:ln w="381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527048"/>
            <a:ext cx="44074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原因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47088"/>
            <a:ext cx="2487168" cy="60350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98648" y="1847088"/>
            <a:ext cx="2487168" cy="60350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31536" y="1847088"/>
            <a:ext cx="2487168" cy="60350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847088"/>
            <a:ext cx="4544568" cy="60350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1938528"/>
            <a:ext cx="23042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有未处理告警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6" y="1938528"/>
            <a:ext cx="23042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1938528"/>
            <a:ext cx="239572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  灰色待定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7" y="1938528"/>
            <a:ext cx="43616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Sales 核实未完成，加总结果不可信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50592"/>
            <a:ext cx="2487168" cy="60350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8648" y="2450592"/>
            <a:ext cx="2487168" cy="60350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31536" y="2450592"/>
            <a:ext cx="2487168" cy="60350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2450592"/>
            <a:ext cx="4544568" cy="60350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542032"/>
            <a:ext cx="23042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已清零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8376" y="2542032"/>
            <a:ext cx="23042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有待应用规则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77256" y="2542032"/>
            <a:ext cx="239572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  <a:latin typeface="Calibri"/>
              </a:rPr>
              <a:t>  灰色待定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7" y="2542032"/>
            <a:ext cx="43616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规则未 Refresh，计算结果是旧的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054096"/>
            <a:ext cx="2487168" cy="60350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98648" y="3054096"/>
            <a:ext cx="2487168" cy="60350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31536" y="3054096"/>
            <a:ext cx="2487168" cy="60350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79" y="3054096"/>
            <a:ext cx="4544568" cy="603504"/>
          </a:xfrm>
          <a:prstGeom prst="rect">
            <a:avLst/>
          </a:prstGeom>
          <a:solidFill>
            <a:srgbClr val="FFFFFF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145536"/>
            <a:ext cx="23042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已清零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08376" y="3145536"/>
            <a:ext cx="23042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已清零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7256" y="3145536"/>
            <a:ext cx="239572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B3C"/>
                </a:solidFill>
                <a:latin typeface="Calibri"/>
              </a:rPr>
              <a:t>  绿色一致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7" y="3145536"/>
            <a:ext cx="43616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数据 + 规则均已确认，计算可信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657600"/>
            <a:ext cx="2487168" cy="60350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98648" y="3657600"/>
            <a:ext cx="2487168" cy="60350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31536" y="3657600"/>
            <a:ext cx="2487168" cy="60350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79" y="3657600"/>
            <a:ext cx="4544568" cy="603504"/>
          </a:xfrm>
          <a:prstGeom prst="rect">
            <a:avLst/>
          </a:prstGeom>
          <a:solidFill>
            <a:srgbClr val="F5F6F7"/>
          </a:solidFill>
          <a:ln w="3175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749039"/>
            <a:ext cx="23042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已清零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08376" y="3749039"/>
            <a:ext cx="23042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已清零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77256" y="3749039"/>
            <a:ext cx="239572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2520"/>
                </a:solidFill>
                <a:latin typeface="Calibri"/>
              </a:rPr>
              <a:t>  红色不符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7" y="3749039"/>
            <a:ext cx="43616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真实计算差异，触发三因分诊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453542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跨层路由：Sales 补录 → CED 配规则（数据与规则分层协作）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974336"/>
            <a:ext cx="3657600" cy="1051560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4974336"/>
            <a:ext cx="3657600" cy="1051560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93776" y="5102352"/>
            <a:ext cx="402336" cy="402336"/>
          </a:xfrm>
          <a:prstGeom prst="ellipse">
            <a:avLst/>
          </a:prstGeom>
          <a:solidFill>
            <a:srgbClr val="2C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0474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Step 1 · Sales 补录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35838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填写细项名称 + 类型；各月份 Tab 内录入金额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35838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C0CC"/>
                </a:solidFill>
                <a:latin typeface="Calibri"/>
              </a:rPr>
              <a:t>&gt;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43400" y="4974336"/>
            <a:ext cx="3657600" cy="1051560"/>
          </a:xfrm>
          <a:prstGeom prst="rect">
            <a:avLst/>
          </a:prstGeom>
          <a:solidFill>
            <a:srgbClr val="F0F4FB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43400" y="4974336"/>
            <a:ext cx="3657600" cy="1051560"/>
          </a:xfrm>
          <a:prstGeom prst="rect">
            <a:avLst/>
          </a:prstGeom>
          <a:solidFill>
            <a:srgbClr val="F0F4FB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471416" y="5102352"/>
            <a:ext cx="402336" cy="40233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50474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系统检测新类型缺口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83480" y="535838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新类型无默认映射 → Step 2 出现“待映射”提示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535838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C0CC"/>
                </a:solidFill>
                <a:latin typeface="Calibri"/>
              </a:rPr>
              <a:t>&gt;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1040" y="4974336"/>
            <a:ext cx="3657600" cy="1051560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21040" y="4974336"/>
            <a:ext cx="3657600" cy="1051560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449056" y="5102352"/>
            <a:ext cx="402336" cy="402336"/>
          </a:xfrm>
          <a:prstGeom prst="ellipse">
            <a:avLst/>
          </a:prstGeom>
          <a:solidFill>
            <a:srgbClr val="1A4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1119" y="504748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Step 2 · CED 配规则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1119" y="535838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为该新类型指定目标字段，Confirm 后参与计算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加总不符 — 三因分诊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  <a:latin typeface="Calibri"/>
              </a:rPr>
              <a:t>Step 3 红色告警的处理路径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14630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93A2"/>
                </a:solidFill>
                <a:latin typeface="Calibri"/>
              </a:rPr>
              <a:t>7/7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当 Step 1 和 Step 2 均已完成，但系统计算值与工资单印刷值仍不一致时，触发 Step 3 啄警。告警同时给出三种可能原因和两个操作入口：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630168" cy="475488"/>
          </a:xfrm>
          <a:prstGeom prst="rect">
            <a:avLst/>
          </a:prstGeom>
          <a:solidFill>
            <a:srgbClr val="2C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4533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①  金额识别错误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84248"/>
            <a:ext cx="3630168" cy="1920240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84248"/>
            <a:ext cx="3630168" cy="1920240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4825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4A8E"/>
                </a:solidFill>
                <a:latin typeface="Calibri"/>
              </a:rPr>
              <a:t>-&gt; Sales 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3401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OCR 读取的金额与原件不符
（如印刷模糊导致 6 读成 0）
Sales 在 Step 1 修正对应细项金额
Step 3 自动重算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1508760"/>
            <a:ext cx="3630168" cy="475488"/>
          </a:xfrm>
          <a:prstGeom prst="rect">
            <a:avLst/>
          </a:prstGeom>
          <a:solidFill>
            <a:srgbClr val="1A4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54533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②  归类规则不对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1984248"/>
            <a:ext cx="3630168" cy="1920240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1984248"/>
            <a:ext cx="3630168" cy="1920240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204825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D1A"/>
                </a:solidFill>
                <a:latin typeface="Calibri"/>
              </a:rPr>
              <a:t>-&gt; CED 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377440"/>
            <a:ext cx="3401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某细项映射到了错误的字段
（导致该字段合计值偏高/偏低）
CED 在 Step 2 调整映射规则
Confirm 后 Step 3 重算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2" y="1508760"/>
            <a:ext cx="3630168" cy="475488"/>
          </a:xfrm>
          <a:prstGeom prst="rect">
            <a:avLst/>
          </a:prstGeom>
          <a:solidFill>
            <a:srgbClr val="2C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154533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③  规则本就如此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1984248"/>
            <a:ext cx="3630168" cy="1920240"/>
          </a:xfrm>
          <a:prstGeom prst="rect">
            <a:avLst/>
          </a:prstGeom>
          <a:solidFill>
            <a:srgbClr val="F0F4FB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1984248"/>
            <a:ext cx="3630168" cy="1920240"/>
          </a:xfrm>
          <a:prstGeom prst="rect">
            <a:avLst/>
          </a:prstGeom>
          <a:solidFill>
            <a:srgbClr val="F0F4FB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204825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6E"/>
                </a:solidFill>
                <a:latin typeface="Calibri"/>
              </a:rPr>
              <a:t>-&gt; CED 跳过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015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差异是已知业务规则导致
（如政策性扣减不计入 Net Pay）
CED 确认规则正确
标记为“预期差异”跳过告警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69080"/>
            <a:ext cx="11457432" cy="27432"/>
          </a:xfrm>
          <a:prstGeom prst="rect">
            <a:avLst/>
          </a:prstGeom>
          <a:solidFill>
            <a:srgbClr val="E3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16052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4155"/>
                </a:solidFill>
                <a:latin typeface="Calibri"/>
              </a:rPr>
              <a:t>退回机制（Bounce）— 原因①②判断前，CED 可先退回 Sales 再次核实金额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99432"/>
            <a:ext cx="3630168" cy="2148840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599432"/>
            <a:ext cx="3630168" cy="2148840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3776" y="4727448"/>
            <a:ext cx="402336" cy="402336"/>
          </a:xfrm>
          <a:prstGeom prst="ellipse">
            <a:avLst/>
          </a:prstGeom>
          <a:solidFill>
            <a:srgbClr val="1A4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6908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CED 触发退回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" y="509320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点击「先退回 Sales 核实金额」
Step 1 顶部出现退回横幅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54864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C0CC"/>
                </a:solidFill>
                <a:latin typeface="Calibri"/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4599432"/>
            <a:ext cx="3630168" cy="2148840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5968" y="4599432"/>
            <a:ext cx="3630168" cy="2148840"/>
          </a:xfrm>
          <a:prstGeom prst="rect">
            <a:avLst/>
          </a:prstGeom>
          <a:solidFill>
            <a:srgbClr val="E8F0FE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43984" y="4727448"/>
            <a:ext cx="402336" cy="402336"/>
          </a:xfrm>
          <a:prstGeom prst="ellipse">
            <a:avLst/>
          </a:prstGeom>
          <a:solidFill>
            <a:srgbClr val="2C4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46908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Sales 重新核实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3984" y="509320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对照原件逐行检查；如有修正则更新金额
核实无误后点击「已核实，标记完成」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91856" y="548640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8C0CC"/>
                </a:solidFill>
                <a:latin typeface="Calibri"/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66176" y="4599432"/>
            <a:ext cx="3630168" cy="2148840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66176" y="4599432"/>
            <a:ext cx="3630168" cy="2148840"/>
          </a:xfrm>
          <a:prstGeom prst="rect">
            <a:avLst/>
          </a:prstGeom>
          <a:solidFill>
            <a:srgbClr val="E6F0E6"/>
          </a:solidFill>
          <a:ln w="5080">
            <a:solidFill>
              <a:srgbClr val="E3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94192" y="4727448"/>
            <a:ext cx="402336" cy="402336"/>
          </a:xfrm>
          <a:prstGeom prst="ellipse">
            <a:avLst/>
          </a:prstGeom>
          <a:solidFill>
            <a:srgbClr val="1A4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06256" y="46908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CED 继续判断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5093208"/>
            <a:ext cx="33375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退回状态解除；若修正后一致则结案
若仍有差异则处理原因②或③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