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OCR Field Processing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How we define what to extract, alert, and review  ·  HLB HP Loan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1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475488"/>
          </a:xfrm>
          <a:prstGeom prst="rect">
            <a:avLst/>
          </a:prstGeom>
          <a:solidFill>
            <a:srgbClr val="D9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73152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496E"/>
                </a:solidFill>
              </a:rPr>
              <a:t>Core Principle:  OCR = Processor (经办)  ·  Sales = Reviewer (复核)  ·  Every displayed field must have a review mechanism — no field shown without being checked.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6E"/>
                </a:solidFill>
              </a:rPr>
              <a:t>① Scene Flags  (Input Layer)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84048" cy="457200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139696"/>
            <a:ext cx="5486400" cy="457200"/>
          </a:xfrm>
          <a:prstGeom prst="rect">
            <a:avLst/>
          </a:prstGeom>
          <a:solidFill>
            <a:srgbClr val="DDEE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148839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6E"/>
                </a:solidFill>
              </a:rPr>
              <a:t>Document Self-Check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5915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496E"/>
                </a:solidFill>
              </a:rPr>
              <a:t>文件可信·单文件自校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Is_Mandatory=Y or Is_Critical=Y or has auto-validation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24912"/>
            <a:ext cx="384048" cy="457200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797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2724912"/>
            <a:ext cx="5486400" cy="457200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73405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5C1F"/>
                </a:solidFill>
              </a:rPr>
              <a:t>Cross-Doc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44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5C1F"/>
                </a:solidFill>
              </a:rPr>
              <a:t>关联可信·跨文件联校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79776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Cross-file primary key (IC no., chassis no.) or consistency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10128"/>
            <a:ext cx="384048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36499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310128"/>
            <a:ext cx="5486400" cy="457200"/>
          </a:xfrm>
          <a:prstGeom prst="rect">
            <a:avLst/>
          </a:prstGeom>
          <a:solidFill>
            <a:srgbClr val="FFF2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F6000"/>
                </a:solidFill>
              </a:rPr>
              <a:t>Sales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295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6000"/>
                </a:solidFill>
              </a:rPr>
              <a:t>销售作业·Sales复核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649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Field appears on Application Form — Sales must sign-off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95344"/>
            <a:ext cx="384048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950207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" y="3895344"/>
            <a:ext cx="5486400" cy="457200"/>
          </a:xfrm>
          <a:prstGeom prst="rect">
            <a:avLst/>
          </a:prstGeom>
          <a:solidFill>
            <a:srgbClr val="FFF2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90448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F6000"/>
                </a:solidFill>
              </a:rPr>
              <a:t>Credit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1148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6000"/>
                </a:solidFill>
              </a:rPr>
              <a:t>信用决策·UW引擎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950207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Policy=Y or UW engine parameter — feeds auto-approval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480560"/>
            <a:ext cx="384048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53542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" y="4480560"/>
            <a:ext cx="5486400" cy="457200"/>
          </a:xfrm>
          <a:prstGeom prst="rect">
            <a:avLst/>
          </a:prstGeom>
          <a:solidFill>
            <a:srgbClr val="FFF2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48970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F6000"/>
                </a:solidFill>
              </a:rPr>
              <a:t>CED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7000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6000"/>
                </a:solidFill>
              </a:rPr>
              <a:t>CED审查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535424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CED=Y — structured display for CED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07608"/>
            <a:ext cx="5888736" cy="502920"/>
          </a:xfrm>
          <a:prstGeom prst="rect">
            <a:avLst/>
          </a:prstGeom>
          <a:solidFill>
            <a:srgbClr val="FCE4E4"/>
          </a:solidFill>
          <a:ln w="1016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60258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</a:rPr>
              <a:t>🗑  Deletion Rule (necessary &amp; sufficient):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621792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C0000"/>
                </a:solidFill>
              </a:rPr>
              <a:t>F2 = N  AND  U1 = N  AND  U2 = N  AND  U3 = N   →   Delete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810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6E"/>
                </a:solidFill>
              </a:rPr>
              <a:t>② Processing States  (Output)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139696"/>
            <a:ext cx="475488" cy="658368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24942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94576" y="2139696"/>
            <a:ext cx="5029200" cy="658368"/>
          </a:xfrm>
          <a:prstGeom prst="rect">
            <a:avLst/>
          </a:prstGeom>
          <a:solidFill>
            <a:srgbClr val="FCE4E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67728" y="21579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</a:rPr>
              <a:t>Not Extracted  (Delete)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239572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0000"/>
                </a:solidFill>
              </a:rPr>
              <a:t>不识别·删除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56032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No scene flag matched — field has no downstream use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907791"/>
            <a:ext cx="47548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01752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94576" y="2907791"/>
            <a:ext cx="5029200" cy="658368"/>
          </a:xfrm>
          <a:prstGeom prst="rect">
            <a:avLst/>
          </a:prstGeom>
          <a:solidFill>
            <a:srgbClr val="DDEE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7728" y="292607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96E"/>
                </a:solidFill>
              </a:rPr>
              <a:t>Mandatory Alert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316382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496E"/>
                </a:solidFill>
              </a:rPr>
              <a:t>存在性校验告警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67728" y="3328415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F1: field missing triggers alert — document quality gate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3675887"/>
            <a:ext cx="47548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3785615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94576" y="3675887"/>
            <a:ext cx="5029200" cy="658368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67728" y="369417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5C1F"/>
                </a:solidFill>
              </a:rPr>
              <a:t>Critical Alert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7728" y="39319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5C1F"/>
                </a:solidFill>
              </a:rPr>
              <a:t>系统自动核验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67728" y="4096511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F1 + auto-validation rule — system compares automatically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443983"/>
            <a:ext cx="475488" cy="65836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55371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94576" y="4443983"/>
            <a:ext cx="5029200" cy="658368"/>
          </a:xfrm>
          <a:prstGeom prst="rect">
            <a:avLst/>
          </a:prstGeom>
          <a:solidFill>
            <a:srgbClr val="FFF2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67728" y="446227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6000"/>
                </a:solidFill>
              </a:rPr>
              <a:t>Eyeball Check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67728" y="470001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F6000"/>
                </a:solidFill>
              </a:rPr>
              <a:t>Sales/CED目视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67728" y="4864607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U1/U3: displayed to Sales or CED — must be visually reviewed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5212079"/>
            <a:ext cx="475488" cy="65836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5321807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94576" y="5212079"/>
            <a:ext cx="5029200" cy="658368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67728" y="52303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Backend Archive  (No Display)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67728" y="54681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A1A2E"/>
                </a:solidFill>
              </a:rPr>
              <a:t>后台留存不展示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67728" y="5632703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F2 only: cross-doc anchor — extracted &amp; stored, not displayed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36208" y="1783080"/>
            <a:ext cx="36576" cy="438912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HLB HP Loan System  ·  OCR Module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Field Review Progress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Two rounds of feedback — 350 → 290 fields, with 60 deletion decisions validated against the new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2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2926080" cy="640080"/>
          </a:xfrm>
          <a:prstGeom prst="rect">
            <a:avLst/>
          </a:prstGeom>
          <a:solidFill>
            <a:srgbClr val="D9E9F7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161288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F496E"/>
                </a:solidFill>
              </a:rPr>
              <a:t>Version 1
(Initial Draft)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5B6"/>
                </a:solidFill>
              </a:rPr>
              <a:t>350 fields
29 documents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143000"/>
            <a:ext cx="2926080" cy="640080"/>
          </a:xfrm>
          <a:prstGeom prst="rect">
            <a:avLst/>
          </a:prstGeom>
          <a:solidFill>
            <a:srgbClr val="D9E9F7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1161288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F496E"/>
                </a:solidFill>
              </a:rPr>
              <a:t>Version 2
(After User Feedback)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1463040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5B6"/>
                </a:solidFill>
              </a:rPr>
              <a:t>290 fields
23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143000"/>
            <a:ext cx="2926080" cy="640080"/>
          </a:xfrm>
          <a:prstGeom prst="rect">
            <a:avLst/>
          </a:prstGeom>
          <a:solidFill>
            <a:srgbClr val="D9E9F7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161288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F496E"/>
                </a:solidFill>
              </a:rPr>
              <a:t>Current
(Framework Applied)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1463040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5B6"/>
                </a:solidFill>
              </a:rPr>
              <a:t>457 fields
23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2984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2984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496E"/>
                </a:solidFill>
              </a:rPr>
              <a:t>Current Field Distribution  (457 fields / 23 docs)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40864"/>
            <a:ext cx="3657600" cy="438912"/>
          </a:xfrm>
          <a:prstGeom prst="rect">
            <a:avLst/>
          </a:prstGeom>
          <a:solidFill>
            <a:srgbClr val="FCE4E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3957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</a:rPr>
              <a:t>⓪ Not Extracted (Delete)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0208" y="2340864"/>
            <a:ext cx="640080" cy="438912"/>
          </a:xfrm>
          <a:prstGeom prst="rect">
            <a:avLst/>
          </a:prstGeom>
          <a:solidFill>
            <a:srgbClr val="FCE4E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239572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104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576" y="2340864"/>
            <a:ext cx="640080" cy="438912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2414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0"/>
                </a:solidFill>
              </a:rPr>
              <a:t>22.8%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71216"/>
            <a:ext cx="3657600" cy="438912"/>
          </a:xfrm>
          <a:prstGeom prst="rect">
            <a:avLst/>
          </a:prstGeom>
          <a:solidFill>
            <a:srgbClr val="DD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2608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6E"/>
                </a:solidFill>
              </a:rPr>
              <a:t>① Mandatory Alert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2871216"/>
            <a:ext cx="640080" cy="438912"/>
          </a:xfrm>
          <a:prstGeom prst="rect">
            <a:avLst/>
          </a:prstGeom>
          <a:solidFill>
            <a:srgbClr val="DD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292608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96E"/>
                </a:solidFill>
              </a:rPr>
              <a:t>286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08576" y="2871216"/>
            <a:ext cx="640080" cy="438912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29443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0"/>
                </a:solidFill>
              </a:rPr>
              <a:t>62.6%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01568"/>
            <a:ext cx="3657600" cy="438912"/>
          </a:xfrm>
          <a:prstGeom prst="rect">
            <a:avLst/>
          </a:prstGeom>
          <a:solidFill>
            <a:srgbClr val="E2EFD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45643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5C1F"/>
                </a:solidFill>
              </a:rPr>
              <a:t>② Critical Alert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8" y="3401568"/>
            <a:ext cx="640080" cy="438912"/>
          </a:xfrm>
          <a:prstGeom prst="rect">
            <a:avLst/>
          </a:prstGeom>
          <a:solidFill>
            <a:srgbClr val="E2EFD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0208" y="34564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5C1F"/>
                </a:solidFill>
              </a:rPr>
              <a:t>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08576" y="3401568"/>
            <a:ext cx="640080" cy="438912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0"/>
                </a:solidFill>
              </a:rPr>
              <a:t>7.4%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31920"/>
            <a:ext cx="3657600" cy="438912"/>
          </a:xfrm>
          <a:prstGeom prst="rect">
            <a:avLst/>
          </a:prstGeom>
          <a:solidFill>
            <a:srgbClr val="FFF2CC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986783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F6000"/>
                </a:solidFill>
              </a:rPr>
              <a:t>③ Eyeball Check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50208" y="3931920"/>
            <a:ext cx="640080" cy="438912"/>
          </a:xfrm>
          <a:prstGeom prst="rect">
            <a:avLst/>
          </a:prstGeom>
          <a:solidFill>
            <a:srgbClr val="FFF2CC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0208" y="3986783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F6000"/>
                </a:solidFill>
              </a:rPr>
              <a:t>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08576" y="3931920"/>
            <a:ext cx="640080" cy="438912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8576" y="40050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0"/>
                </a:solidFill>
              </a:rPr>
              <a:t>7.2%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462272"/>
            <a:ext cx="3657600" cy="438912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5171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④ Backend Archive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0208" y="4462272"/>
            <a:ext cx="640080" cy="438912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0208" y="451713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576" y="4462272"/>
            <a:ext cx="640080" cy="438912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8576" y="45354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0"/>
                </a:solidFill>
              </a:rPr>
              <a:t>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99339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496E"/>
                </a:solidFill>
              </a:rPr>
              <a:t>60 Deletion Fields — Framework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2322576"/>
            <a:ext cx="1828800" cy="530352"/>
          </a:xfrm>
          <a:prstGeom prst="rect">
            <a:avLst/>
          </a:prstGeom>
          <a:solidFill>
            <a:srgbClr val="E2EFDA"/>
          </a:solidFill>
          <a:ln w="762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08192" y="2340864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7A1F"/>
                </a:solidFill>
              </a:rPr>
              <a:t>29  ✓ Agreed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8192" y="2596896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Both original review
&amp; new rules → Delete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2322576"/>
            <a:ext cx="1828800" cy="530352"/>
          </a:xfrm>
          <a:prstGeom prst="rect">
            <a:avLst/>
          </a:prstGeom>
          <a:solidFill>
            <a:srgbClr val="FCE4E4"/>
          </a:solidFill>
          <a:ln w="762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74152" y="2340864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</a:rPr>
              <a:t>29  ⚠ Diverged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74152" y="2596896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Original: Delete
New rules: Keep / Extract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59" y="2322576"/>
            <a:ext cx="1828800" cy="530352"/>
          </a:xfrm>
          <a:prstGeom prst="rect">
            <a:avLst/>
          </a:prstGeom>
          <a:solidFill>
            <a:srgbClr val="F2F2F2"/>
          </a:solidFill>
          <a:ln w="762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0111" y="2340864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2   — N/A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40111" y="2596896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Not in framework
library — to be added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99923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6E"/>
                </a:solidFill>
              </a:rPr>
              <a:t>Breakdown of 29 Diverged Fields: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3291840"/>
            <a:ext cx="713232" cy="658368"/>
          </a:xfrm>
          <a:prstGeom prst="rect">
            <a:avLst/>
          </a:prstGeom>
          <a:solidFill>
            <a:srgbClr val="E2EFDA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44184" y="3328416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F5C1F"/>
                </a:solidFill>
              </a:rPr>
              <a:t>② Critical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44184" y="3584448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5C1F"/>
                </a:solidFill>
              </a:rPr>
              <a:t>13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3291840"/>
            <a:ext cx="2743200" cy="658368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3328416"/>
            <a:ext cx="25786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date_of_birth (multi-doc), tax_paid_in_excess,
passport_no_old, nationality (SG docs)…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8048" y="3291840"/>
            <a:ext cx="2395728" cy="658368"/>
          </a:xfrm>
          <a:prstGeom prst="rect">
            <a:avLst/>
          </a:prstGeom>
          <a:solidFill>
            <a:srgbClr val="D9E9F7"/>
          </a:solidFill>
          <a:ln w="508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3328416"/>
            <a:ext cx="2286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496E"/>
                </a:solidFill>
              </a:rPr>
              <a:t>Has auto-validation rule in framework — cannot simply delete.
Recommendation: remove auto-rule if no longer needed.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4096512"/>
            <a:ext cx="713232" cy="658368"/>
          </a:xfrm>
          <a:prstGeom prst="rect">
            <a:avLst/>
          </a:prstGeom>
          <a:solidFill>
            <a:srgbClr val="FFF2CC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44184" y="4133088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F6000"/>
                </a:solidFill>
              </a:rPr>
              <a:t>③ Eyeball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44184" y="4389120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F6000"/>
                </a:solidFill>
              </a:rPr>
              <a:t>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0" y="4096512"/>
            <a:ext cx="2743200" cy="658368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4133088"/>
            <a:ext cx="25786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city, state (MyKad/MyPR), employer_name,
debit_amount, declarations_name/ic…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8048" y="4096512"/>
            <a:ext cx="2395728" cy="658368"/>
          </a:xfrm>
          <a:prstGeom prst="rect">
            <a:avLst/>
          </a:prstGeom>
          <a:solidFill>
            <a:srgbClr val="D9E9F7"/>
          </a:solidFill>
          <a:ln w="508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0" y="4133088"/>
            <a:ext cx="2286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496E"/>
                </a:solidFill>
              </a:rPr>
              <a:t>Still mapped to Sales review (U1=Y) — framework requires display.
Recommendation: remove from Application Form mapping if not displayed.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4901184"/>
            <a:ext cx="713232" cy="658368"/>
          </a:xfrm>
          <a:prstGeom prst="rect">
            <a:avLst/>
          </a:prstGeom>
          <a:solidFill>
            <a:srgbClr val="DDEE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44184" y="4937760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F496E"/>
                </a:solidFill>
              </a:rPr>
              <a:t>① Mandatory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44184" y="5193792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96E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0" y="4901184"/>
            <a:ext cx="2743200" cy="658368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0" y="4937760"/>
            <a:ext cx="25786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CP58: payer_reg_no, payer_tax_no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28048" y="4901184"/>
            <a:ext cx="2395728" cy="658368"/>
          </a:xfrm>
          <a:prstGeom prst="rect">
            <a:avLst/>
          </a:prstGeom>
          <a:solidFill>
            <a:srgbClr val="D9E9F7"/>
          </a:solidFill>
          <a:ln w="508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01200" y="4937760"/>
            <a:ext cx="2286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496E"/>
                </a:solidFill>
              </a:rPr>
              <a:t>Is_Mandatory=Y in source data — triggers existence alert.
Recommendation: update source flag to N if field is truly unused.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40" y="5705856"/>
            <a:ext cx="713232" cy="658368"/>
          </a:xfrm>
          <a:prstGeom prst="rect">
            <a:avLst/>
          </a:prstGeom>
          <a:solidFill>
            <a:srgbClr val="F2F2F2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44184" y="574243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④ Archive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44184" y="5998464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66560" y="5705856"/>
            <a:ext cx="2743200" cy="658368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0" y="5742432"/>
            <a:ext cx="25786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A1A2E"/>
                </a:solidFill>
              </a:rPr>
              <a:t>issuing_country (DL), vso_date (VSO)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28048" y="5705856"/>
            <a:ext cx="2395728" cy="658368"/>
          </a:xfrm>
          <a:prstGeom prst="rect">
            <a:avLst/>
          </a:prstGeom>
          <a:solidFill>
            <a:srgbClr val="D9E9F7"/>
          </a:solidFill>
          <a:ln w="508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01200" y="5742432"/>
            <a:ext cx="2286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496E"/>
                </a:solidFill>
              </a:rPr>
              <a:t>Not in framework library — fields need to be added to master table.
Recommendation: classify and add to next version.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0" y="3218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9BB0"/>
                </a:solidFill>
              </a:rPr>
              <a:t>State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66560" y="32186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9BB0"/>
                </a:solidFill>
              </a:rPr>
              <a:t>Fields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8048" y="321868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9BB0"/>
                </a:solidFill>
              </a:rPr>
              <a:t>Recommended Action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HLB HP Loan System  ·  OCR Module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60 Deletion Fields — Complete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</a:rPr>
              <a:t>Original deletion list vs. New framework decision  |  ✓ Agreed (29)  ⚠ Diverged (29)  — N/A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54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3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292608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90525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96112"/>
            <a:ext cx="1645920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90525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896112"/>
            <a:ext cx="2103120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905256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Field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896112"/>
            <a:ext cx="1554480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9052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Display Name (CN)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896112"/>
            <a:ext cx="1371600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905256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Original 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896112"/>
            <a:ext cx="2011680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905256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Framework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896112"/>
            <a:ext cx="868680" cy="292608"/>
          </a:xfrm>
          <a:prstGeom prst="rect">
            <a:avLst/>
          </a:prstGeom>
          <a:solidFill>
            <a:srgbClr val="1F49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905256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1207008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" y="1216152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207008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1216152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CP58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1207008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9696" y="1216152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payer_reg_no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207008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42816" y="1216152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支付方注册号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207008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1216152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207008"/>
            <a:ext cx="2011680" cy="178308"/>
          </a:xfrm>
          <a:prstGeom prst="rect">
            <a:avLst/>
          </a:prstGeom>
          <a:solidFill>
            <a:srgbClr val="DDEE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8896" y="1216152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496E"/>
                </a:solidFill>
              </a:rPr>
              <a:t>① Mandatory告警·存在性校验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207008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1216152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1385316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1394460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385316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1394460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CP58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1385316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39696" y="1394460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payer_tax_no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1385316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1394460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支付方税号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1385316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1394460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1385316"/>
            <a:ext cx="2011680" cy="178308"/>
          </a:xfrm>
          <a:prstGeom prst="rect">
            <a:avLst/>
          </a:prstGeom>
          <a:solidFill>
            <a:srgbClr val="DDEE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68896" y="1394460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496E"/>
                </a:solidFill>
              </a:rPr>
              <a:t>① Mandatory告警·存在性校验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1385316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394460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1563624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" y="1572768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1563624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" y="1572768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Mykad(Blue)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3120" y="1563624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9696" y="1572768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06240" y="1563624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42816" y="1572768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1563624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97296" y="1572768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1563624"/>
            <a:ext cx="2011680" cy="178308"/>
          </a:xfrm>
          <a:prstGeom prst="rect">
            <a:avLst/>
          </a:prstGeom>
          <a:solidFill>
            <a:srgbClr val="E2EFD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68896" y="1572768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5C1F"/>
                </a:solidFill>
              </a:rPr>
              <a:t>② Critical告警·系统自动核验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1563624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0576" y="1572768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1741932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" y="1751076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1741932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" y="1751076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MyPR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1741932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39696" y="1751076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1741932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42816" y="1751076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1741932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97296" y="1751076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0" y="1741932"/>
            <a:ext cx="2011680" cy="178308"/>
          </a:xfrm>
          <a:prstGeom prst="rect">
            <a:avLst/>
          </a:prstGeom>
          <a:solidFill>
            <a:srgbClr val="E2EFD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68896" y="1751076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5C1F"/>
                </a:solidFill>
              </a:rPr>
              <a:t>② Critical告警·系统自动核验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1741932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80576" y="1751076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1920240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1168" y="1929384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1920240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3776" y="1929384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VISA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03120" y="1920240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39696" y="1929384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06240" y="1920240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42816" y="1929384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60720" y="1920240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97296" y="1929384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32320" y="1920240"/>
            <a:ext cx="2011680" cy="178308"/>
          </a:xfrm>
          <a:prstGeom prst="rect">
            <a:avLst/>
          </a:prstGeom>
          <a:solidFill>
            <a:srgbClr val="E2EFD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68896" y="1929384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5C1F"/>
                </a:solidFill>
              </a:rPr>
              <a:t>② Critical告警·系统自动核验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0" y="1920240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80576" y="1929384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" y="2098548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1168" y="2107691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2098548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3776" y="2107691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VISA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03120" y="2098548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39696" y="2107691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date_of_issue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06240" y="2098548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42816" y="2107691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签发日期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60720" y="2098548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97296" y="2107691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32320" y="2098548"/>
            <a:ext cx="2011680" cy="178308"/>
          </a:xfrm>
          <a:prstGeom prst="rect">
            <a:avLst/>
          </a:prstGeom>
          <a:solidFill>
            <a:srgbClr val="E2EFD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68896" y="2107691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5C1F"/>
                </a:solidFill>
              </a:rPr>
              <a:t>② Critical告警·系统自动核验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0" y="2098548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80576" y="2107691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64592" y="2276856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1168" y="2286000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2276856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93776" y="2286000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SG_Work_Permit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03120" y="2276856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139696" y="2286000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206240" y="2276856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42816" y="2286000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0720" y="2276856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97296" y="2286000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32320" y="2276856"/>
            <a:ext cx="2011680" cy="178308"/>
          </a:xfrm>
          <a:prstGeom prst="rect">
            <a:avLst/>
          </a:prstGeom>
          <a:solidFill>
            <a:srgbClr val="E2EFD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68896" y="2286000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5C1F"/>
                </a:solidFill>
              </a:rPr>
              <a:t>② Critical告警·系统自动核验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0" y="2276856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180576" y="2286000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4592" y="2455164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01168" y="2464308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0" y="2455164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3776" y="2464308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Form BE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03120" y="2455164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39696" y="2464308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tax_paid_in_excess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206240" y="2455164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242816" y="2464308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多缴税款 (退税额)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60720" y="2455164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797296" y="2464308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132320" y="2455164"/>
            <a:ext cx="2011680" cy="178308"/>
          </a:xfrm>
          <a:prstGeom prst="rect">
            <a:avLst/>
          </a:prstGeom>
          <a:solidFill>
            <a:srgbClr val="E2EFD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168896" y="2464308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F5C1F"/>
                </a:solidFill>
              </a:rPr>
              <a:t>② Critical告警·系统自动核验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0" y="2455164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80576" y="2464308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4592" y="2633472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01168" y="2642615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2633472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93776" y="2642615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Mykad(Blue)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03120" y="2633472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139696" y="2642615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city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206240" y="2633472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242816" y="2642615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城市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760720" y="2633472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797296" y="2642615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132320" y="2633472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168896" y="2642615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44000" y="2633472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180576" y="2642615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4592" y="2811780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01168" y="2820924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57200" y="2811780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93776" y="2820924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Mykad(Blue)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103120" y="2811780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139696" y="2820924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state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206240" y="2811780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242816" y="2820924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州属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60720" y="2811780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97296" y="2820924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132320" y="2811780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168896" y="2820924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44000" y="2811780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0576" y="2820924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64592" y="2990088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01168" y="2999232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57200" y="2990088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93776" y="2999232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MyPR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03120" y="2990088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139696" y="2999232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city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206240" y="2990088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242816" y="2999232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城市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760720" y="2990088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797296" y="2999232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132320" y="2990088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168896" y="2999232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144000" y="2990088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180576" y="2999232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64592" y="3168396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01168" y="3177539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57200" y="3168396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93776" y="3177539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MyPR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103120" y="3168396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139696" y="3177539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state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206240" y="3168396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242816" y="3177539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州属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760720" y="3168396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797296" y="3177539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132320" y="3168396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168896" y="3177539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144000" y="3168396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180576" y="3177539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64592" y="3346704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01168" y="3355848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57200" y="3346704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3776" y="3355848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work_Permit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103120" y="3346704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139696" y="3355848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nationality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206240" y="3346704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242816" y="3355848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国籍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760720" y="3346704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797296" y="3355848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132320" y="3346704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168896" y="3355848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144000" y="3346704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180576" y="3355848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64592" y="3525012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01168" y="3534156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57200" y="3525012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93776" y="3534156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work_Permit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103120" y="3525012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139696" y="3534156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206240" y="3525012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242816" y="3534156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760720" y="3525012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797296" y="3534156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7132320" y="3525012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168896" y="3534156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144000" y="3525012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180576" y="3534156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64592" y="3703320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01168" y="3712463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57200" y="3703320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93776" y="3712463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work_Permit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103120" y="3703320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2139696" y="3712463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passport_expiry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206240" y="3703320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242816" y="3712463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护照有效期至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60720" y="3703320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797296" y="3712463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132320" y="3703320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168896" y="3712463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144000" y="3703320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9180576" y="3712463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64592" y="3881628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01168" y="3890772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16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57200" y="3881628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93776" y="3890772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Payslip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103120" y="3881628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139696" y="3890772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employer_name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206240" y="3881628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242816" y="3890772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雇主名称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760720" y="3881628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797296" y="3890772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132320" y="3881628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168896" y="3890772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144000" y="3881628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9180576" y="3890772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64592" y="4059936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01168" y="4069080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17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57200" y="4059936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93776" y="4069080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Payslip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103120" y="4059936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139696" y="4069080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socso_no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206240" y="4059936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242816" y="4069080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社保号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5760720" y="4059936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5797296" y="4069080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7132320" y="4059936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168896" y="4069080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144000" y="4059936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9180576" y="4069080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64592" y="4238244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01168" y="4247388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18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57200" y="4238244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93776" y="4247388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Individual_bank_statement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103120" y="4238244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139696" y="4247388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debit_amount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4206240" y="4238244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4242816" y="4247388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借方金额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5760720" y="4238244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797296" y="4247388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132320" y="4238244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7168896" y="4247388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144000" y="4238244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180576" y="4247388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64592" y="4416552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01168" y="4425696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19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457200" y="4416552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493776" y="4425696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Form BE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103120" y="4416552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2139696" y="4425696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declarations_name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206240" y="4416552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242816" y="4425696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申报人姓名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5760720" y="4416552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5797296" y="4425696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132320" y="4416552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168896" y="4425696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9144000" y="4416552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80576" y="4425696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64592" y="4594860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01168" y="4604004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57200" y="4594860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93776" y="4604004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Form BE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2103120" y="4594860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2139696" y="4604004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declarations_ic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206240" y="4594860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4242816" y="4604004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申报人身份证号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760720" y="4594860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5797296" y="4604004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7132320" y="4594860"/>
            <a:ext cx="2011680" cy="178308"/>
          </a:xfrm>
          <a:prstGeom prst="rect">
            <a:avLst/>
          </a:prstGeom>
          <a:solidFill>
            <a:srgbClr val="FFF2CC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168896" y="4604004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F6000"/>
                </a:solidFill>
              </a:rPr>
              <a:t>③ Eyeball Check·常态目视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9144000" y="4594860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9180576" y="4604004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64592" y="4773168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01168" y="4782312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21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457200" y="4773168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493776" y="4782312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Passport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2103120" y="4773168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2139696" y="4782312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passport_no_old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206240" y="4773168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242816" y="4782312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旧护照号码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760720" y="4773168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5797296" y="4782312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7132320" y="4773168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7168896" y="4782312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9144000" y="4773168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9180576" y="4782312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64592" y="4951476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201168" y="4960620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22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7200" y="4951476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93776" y="4960620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VISA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2103120" y="4951476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2139696" y="4960620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nationality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206240" y="4951476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4242816" y="4960620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国籍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760720" y="4951476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5797296" y="4960620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132320" y="4951476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7168896" y="4960620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9144000" y="4951476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9180576" y="4960620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64592" y="5129784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201168" y="5138928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23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57200" y="5129784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493776" y="5138928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Driving_Licence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103120" y="5129784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2139696" y="5138928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nationality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206240" y="5129784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4242816" y="5138928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国籍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5760720" y="5129784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5797296" y="5138928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7132320" y="5129784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7168896" y="5138928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9144000" y="5129784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9180576" y="5138928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164592" y="5308092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201168" y="5317236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24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457200" y="5308092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493776" y="5317236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SG_Identity_Card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2103120" y="5308092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2139696" y="5317236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4206240" y="5308092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4242816" y="5317236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5760720" y="5308092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5797296" y="5317236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132320" y="5308092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168896" y="5317236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144000" y="5308092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9180576" y="5317236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164592" y="5486400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201168" y="5495544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25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57200" y="5486400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493776" y="5495544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SG_Identity_Card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2103120" y="5486400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2139696" y="5495544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nationality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4206240" y="5486400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4242816" y="5495544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国籍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5760720" y="5486400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5797296" y="5495544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7132320" y="5486400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7168896" y="5495544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9144000" y="5486400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9180576" y="5495544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164592" y="5664708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201168" y="5673852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26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457200" y="5664708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493776" y="5673852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SG_Identity_Card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2103120" y="5664708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2139696" y="5673852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date_of_issue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4206240" y="5664708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4242816" y="5673852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签发日期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5760720" y="5664708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5797296" y="5673852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7132320" y="5664708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7168896" y="5673852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9144000" y="5664708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9180576" y="5673852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164592" y="5843016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201168" y="5852160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27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457200" y="5843016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493776" y="5852160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SG_Work_Permit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2103120" y="5843016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2139696" y="5852160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nationality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4206240" y="5843016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4242816" y="5852160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国籍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5760720" y="5843016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5797296" y="5852160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7132320" y="5843016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7168896" y="5852160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9144000" y="5843016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9180576" y="5852160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164592" y="6021324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201168" y="6030468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28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457200" y="6021324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493776" y="6030468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Form B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2103120" y="6021324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2139696" y="6030468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4206240" y="6021324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4242816" y="6030468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5760720" y="6021324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5797296" y="6030468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7132320" y="6021324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168896" y="6030468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9144000" y="6021324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9180576" y="6030468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164592" y="6199632"/>
            <a:ext cx="292608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201168" y="6208776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29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457200" y="6199632"/>
            <a:ext cx="16459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493776" y="6208776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Form BE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2103120" y="6199632"/>
            <a:ext cx="210312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2139696" y="6208776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date_of_birth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4206240" y="6199632"/>
            <a:ext cx="155448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4242816" y="6208776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出生日期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5760720" y="6199632"/>
            <a:ext cx="1371600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5797296" y="6208776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7132320" y="6199632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7168896" y="6208776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④ 提取·后台留存（不展示）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9144000" y="6199632"/>
            <a:ext cx="868680" cy="178308"/>
          </a:xfrm>
          <a:prstGeom prst="rect">
            <a:avLst/>
          </a:prstGeom>
          <a:solidFill>
            <a:srgbClr val="FCE4E4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9180576" y="6208776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CC0000"/>
                </a:solidFill>
              </a:rPr>
              <a:t>⚠ Diverged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164592" y="6377940"/>
            <a:ext cx="292608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201168" y="6387084"/>
            <a:ext cx="219456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30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457200" y="6377940"/>
            <a:ext cx="16459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493776" y="6387084"/>
            <a:ext cx="157276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Driving_Licence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2103120" y="6377940"/>
            <a:ext cx="210312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2139696" y="6387084"/>
            <a:ext cx="2029967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issuing_country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4206240" y="6377940"/>
            <a:ext cx="155448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4242816" y="6387084"/>
            <a:ext cx="14813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发证国家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5760720" y="6377940"/>
            <a:ext cx="1371600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5797296" y="6387084"/>
            <a:ext cx="129844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Delete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7132320" y="6377940"/>
            <a:ext cx="2011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7168896" y="6387084"/>
            <a:ext cx="1938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— Not in library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9144000" y="6377940"/>
            <a:ext cx="868680" cy="1783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9180576" y="6387084"/>
            <a:ext cx="795528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1A1A2E"/>
                </a:solidFill>
              </a:rPr>
              <a:t>— N/A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HLB HP Loan System  ·  OCR Module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